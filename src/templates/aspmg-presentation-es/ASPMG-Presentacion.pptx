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image" Target="../media/image-17-3.jp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rankhernandez/Documents/GitHub/aspmg-web/src/templates/aspmg-presentation-es/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5796" y="685800"/>
            <a:ext cx="1737360" cy="1554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377440"/>
            <a:ext cx="12188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400" kern="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SOLID PROPERTY MANAGEMENT GROUP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637276" y="2971800"/>
            <a:ext cx="914400" cy="41148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32918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6E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 EXCLUSIVAMENTE PARA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0" y="361188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DA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 Asociación Comunitaria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0" y="576072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566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SOLID PROPERTY MANAGEMENT GROUP  •  MIAMI, FLORIDA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058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3240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77240" y="23774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Quiénes Somos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22960" y="3429000"/>
            <a:ext cx="731520" cy="41148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657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firma de administración de propiedades de servicio completo, fundada en la transparencia, la tecnología y la excelencia financiera para las asociaciones de condominios del sur de Florida.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8636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EFE9DC"/>
          </a:solidFill>
          <a:ln/>
        </p:spPr>
      </p:sp>
      <p:sp>
        <p:nvSpPr>
          <p:cNvPr id="3" name="Text 1"/>
          <p:cNvSpPr/>
          <p:nvPr/>
        </p:nvSpPr>
        <p:spPr>
          <a:xfrm>
            <a:off x="5088636" y="4572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D7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LA EMPRESA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82296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ASPMG en Cifras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728716" y="1600200"/>
            <a:ext cx="731520" cy="41148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210312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6656" y="228965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89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68096" y="3004718"/>
            <a:ext cx="2286000" cy="5907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DE EXPERIENCIA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65576" y="210312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65576" y="228965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89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57016" y="3004718"/>
            <a:ext cx="2286000" cy="5907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ASOCIACIONES ADMINISTRADAS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54496" y="210312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54496" y="228965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89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$50M+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45936" y="3004718"/>
            <a:ext cx="2286000" cy="5907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 BAJO ADMINISTRACIÓN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043416" y="210312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043416" y="228965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89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134856" y="3004718"/>
            <a:ext cx="2286000" cy="5907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 CON LA JUNTA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463040" y="4206240"/>
            <a:ext cx="45720" cy="1371600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19" name="Text 17"/>
          <p:cNvSpPr/>
          <p:nvPr/>
        </p:nvSpPr>
        <p:spPr>
          <a:xfrm>
            <a:off x="1691640" y="4206240"/>
            <a:ext cx="8961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"No solo administramos propiedades — transformamos comunidades a través de una gestión financiera proactiva, tecnología de vanguardia y una atención implacable al detalle."</a:t>
            </a:r>
            <a:endParaRPr lang="en-US" sz="1500" dirty="0"/>
          </a:p>
        </p:txBody>
      </p:sp>
      <p:pic>
        <p:nvPicPr>
          <p:cNvPr id="20" name="Image 0" descr="/Users/frankhernandez/Documents/GitHub/aspmg-web/src/templates/aspmg-presentation-es/img/logo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02920" y="6382512"/>
            <a:ext cx="310896" cy="2743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616952" y="63550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Grand Canal Dr, Suite 201  •  Miami, FL 33144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6E9F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NOS DISTINGUE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Diferencia ASPMG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463040"/>
            <a:ext cx="731520" cy="41148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288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828800"/>
            <a:ext cx="41148" cy="1417320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9202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Financiera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2212848"/>
            <a:ext cx="324612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de reservas, eliminación de deudas y ahorro de más de $200K en seguros — misma cobertura.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34840" y="18288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1828800"/>
            <a:ext cx="41148" cy="1417320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19202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Impulsados por Tecnología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99432" y="2212848"/>
            <a:ext cx="324612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ApplyHOA ofrece reportes en tiempo real, portales para propietarios y administración digital.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0" y="18288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1828800"/>
            <a:ext cx="41148" cy="1417320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16" name="Text 14"/>
          <p:cNvSpPr/>
          <p:nvPr/>
        </p:nvSpPr>
        <p:spPr>
          <a:xfrm>
            <a:off x="8394192" y="19202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 Radical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94192" y="2212848"/>
            <a:ext cx="324612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de inspección con fotos, finanzas detalladas y administración de proyectos a libro abierto.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5204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520440"/>
            <a:ext cx="41148" cy="1417320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36118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de Proyectos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" y="3904488"/>
            <a:ext cx="324612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techo a la piscina — proyectos capitales de principio a fin con documentación de antes y después.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34840" y="35204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34840" y="3520440"/>
            <a:ext cx="41148" cy="1417320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24" name="Text 22"/>
          <p:cNvSpPr/>
          <p:nvPr/>
        </p:nvSpPr>
        <p:spPr>
          <a:xfrm>
            <a:off x="4599432" y="36118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Inspecciones Proactivas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99432" y="3904488"/>
            <a:ext cx="324612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fotográficos de 20+ páginas detectan problemas a tiempo y dan seguimiento a cada solución.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9600" y="35204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29600" y="3520440"/>
            <a:ext cx="41148" cy="1417320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28" name="Text 26"/>
          <p:cNvSpPr/>
          <p:nvPr/>
        </p:nvSpPr>
        <p:spPr>
          <a:xfrm>
            <a:off x="8394192" y="36118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Bilingüe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94192" y="3904488"/>
            <a:ext cx="324612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totalmente bilingüe (inglés/español) para una comunicación clara con cada residente.</a:t>
            </a:r>
            <a:endParaRPr lang="en-US" sz="1000" dirty="0"/>
          </a:p>
        </p:txBody>
      </p:sp>
      <p:pic>
        <p:nvPicPr>
          <p:cNvPr id="30" name="Image 0" descr="/Users/frankhernandez/Documents/GitHub/aspmg-web/src/templates/aspmg-presentation-es/img/logo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02920" y="6382512"/>
            <a:ext cx="310896" cy="27432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7616952" y="63550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aspmg.com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058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3240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77240" y="23774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Tecnología e Innovación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22960" y="3429000"/>
            <a:ext cx="731520" cy="41148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657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Impulsado por ApplyHOA — nuestra plataforma propia que lleva la administración de condominios a la era digital.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EFE9D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D7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IMPULSADO POR APPLYHOA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Administración Inteligente, Control en Tiempo Real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731520" cy="41148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5740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plataforma propia creada para asociaciones de condominios de Florida — reemplaza procesos obsoletos en papel con un ecosistema totalmente digital.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3017520"/>
            <a:ext cx="109728" cy="109728"/>
          </a:xfrm>
          <a:prstGeom prst="ellipse">
            <a:avLst/>
          </a:prstGeom>
          <a:solidFill>
            <a:srgbClr val="A8906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9260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del Propietario — </a:t>
            </a:r>
            <a:pPr indent="0" marL="0">
              <a:buNone/>
            </a:pPr>
            <a:r>
              <a:rPr lang="en-US" sz="12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Pagos, solicitudes y documentos 24/7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3584448"/>
            <a:ext cx="109728" cy="109728"/>
          </a:xfrm>
          <a:prstGeom prst="ellipse">
            <a:avLst/>
          </a:prstGeom>
          <a:solidFill>
            <a:srgbClr val="A8906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49300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la Junta — </a:t>
            </a:r>
            <a:pPr indent="0" marL="0">
              <a:buNone/>
            </a:pPr>
            <a:r>
              <a:rPr lang="en-US" sz="12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en tiempo real, violaciones y estado de proyectos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4151376"/>
            <a:ext cx="109728" cy="109728"/>
          </a:xfrm>
          <a:prstGeom prst="ellipse">
            <a:avLst/>
          </a:prstGeom>
          <a:solidFill>
            <a:srgbClr val="A8906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059936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Votación Digital — </a:t>
            </a:r>
            <a:pPr indent="0" marL="0">
              <a:buNone/>
            </a:pPr>
            <a:r>
              <a:rPr lang="en-US" sz="12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Elecciones y enmiendas seguras en línea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4718304"/>
            <a:ext cx="109728" cy="109728"/>
          </a:xfrm>
          <a:prstGeom prst="ellipse">
            <a:avLst/>
          </a:prstGeom>
          <a:solidFill>
            <a:srgbClr val="A8906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626864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 Mantenimiento — </a:t>
            </a:r>
            <a:pPr indent="0" marL="0">
              <a:buNone/>
            </a:pPr>
            <a:r>
              <a:rPr lang="en-US" sz="12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orden de trabajo registrada y resuelta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5285232"/>
            <a:ext cx="109728" cy="109728"/>
          </a:xfrm>
          <a:prstGeom prst="ellipse">
            <a:avLst/>
          </a:prstGeom>
          <a:solidFill>
            <a:srgbClr val="A8906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193792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 Documentos — </a:t>
            </a:r>
            <a:pPr indent="0" marL="0">
              <a:buNone/>
            </a:pPr>
            <a:r>
              <a:rPr lang="en-US" sz="12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Estatutos, presupuestos, actas — todo con búsqueda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0" y="1280160"/>
            <a:ext cx="4663440" cy="4572000"/>
          </a:xfrm>
          <a:prstGeom prst="roundRect">
            <a:avLst>
              <a:gd name="adj" fmla="val 3000"/>
            </a:avLst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18288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en Una Plataforma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858000" y="22860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dispositivo, donde sea, cuando sea.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69480" y="301752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3A4A6E"/>
          </a:solidFill>
          <a:ln/>
        </p:spPr>
      </p:sp>
      <p:sp>
        <p:nvSpPr>
          <p:cNvPr id="21" name="Text 19"/>
          <p:cNvSpPr/>
          <p:nvPr/>
        </p:nvSpPr>
        <p:spPr>
          <a:xfrm>
            <a:off x="7269480" y="30175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BDA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595360" y="301752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3A4A6E"/>
          </a:solidFill>
          <a:ln/>
        </p:spPr>
      </p:sp>
      <p:sp>
        <p:nvSpPr>
          <p:cNvPr id="23" name="Text 21"/>
          <p:cNvSpPr/>
          <p:nvPr/>
        </p:nvSpPr>
        <p:spPr>
          <a:xfrm>
            <a:off x="8595360" y="30175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BDA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9921240" y="301752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3A4A6E"/>
          </a:solidFill>
          <a:ln/>
        </p:spPr>
      </p:sp>
      <p:sp>
        <p:nvSpPr>
          <p:cNvPr id="25" name="Text 23"/>
          <p:cNvSpPr/>
          <p:nvPr/>
        </p:nvSpPr>
        <p:spPr>
          <a:xfrm>
            <a:off x="9921240" y="30175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BDA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VIOLACIONES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269480" y="352044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3A4A6E"/>
          </a:solidFill>
          <a:ln/>
        </p:spPr>
      </p:sp>
      <p:sp>
        <p:nvSpPr>
          <p:cNvPr id="27" name="Text 25"/>
          <p:cNvSpPr/>
          <p:nvPr/>
        </p:nvSpPr>
        <p:spPr>
          <a:xfrm>
            <a:off x="7269480" y="35204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BDA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595360" y="352044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3A4A6E"/>
          </a:solidFill>
          <a:ln/>
        </p:spPr>
      </p:sp>
      <p:sp>
        <p:nvSpPr>
          <p:cNvPr id="29" name="Text 27"/>
          <p:cNvSpPr/>
          <p:nvPr/>
        </p:nvSpPr>
        <p:spPr>
          <a:xfrm>
            <a:off x="8595360" y="35204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BDA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VOTACIÓN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9921240" y="352044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3A4A6E"/>
          </a:solidFill>
          <a:ln/>
        </p:spPr>
      </p:sp>
      <p:sp>
        <p:nvSpPr>
          <p:cNvPr id="31" name="Text 29"/>
          <p:cNvSpPr/>
          <p:nvPr/>
        </p:nvSpPr>
        <p:spPr>
          <a:xfrm>
            <a:off x="9921240" y="35204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BDA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58000" y="50292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A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applyhoa.com</a:t>
            </a:r>
            <a:endParaRPr lang="en-US" sz="1100" dirty="0"/>
          </a:p>
        </p:txBody>
      </p:sp>
      <p:pic>
        <p:nvPicPr>
          <p:cNvPr id="33" name="Image 0" descr="/Users/frankhernandez/Documents/GitHub/aspmg-web/src/templates/aspmg-presentation-es/img/logo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02920" y="6382512"/>
            <a:ext cx="310896" cy="27432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7616952" y="63550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applyhoa.com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058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3240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77240" y="23774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Excelencia Financiera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22960" y="3429000"/>
            <a:ext cx="731520" cy="41148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657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reales. Resultados reales. Vea cómo ASPMG transforma la salud financiera de las asociaciones que administramos.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Efecto Dinero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Doral Grand Condominium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737360"/>
            <a:ext cx="731520" cy="41148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2024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la administración de ASPMG, los activos totales de Doral Grand se duplicaron con creces en solo dos años — con reservas correctamente categorizadas y cuentas por cobrar drásticamente reducidas.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880360"/>
          <a:ext cx="5760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1887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Assets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$63,128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$130,472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&amp; Savings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$55,453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$129,122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$47,010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$101,325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$7,676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949440" y="1188720"/>
            <a:ext cx="4572000" cy="2286000"/>
          </a:xfrm>
          <a:prstGeom prst="roundRect">
            <a:avLst>
              <a:gd name="adj" fmla="val 4800"/>
            </a:avLst>
          </a:prstGeom>
          <a:solidFill>
            <a:srgbClr val="1B2A4A"/>
          </a:solidFill>
          <a:ln/>
        </p:spPr>
      </p:sp>
      <p:sp>
        <p:nvSpPr>
          <p:cNvPr id="10" name="Text 7"/>
          <p:cNvSpPr/>
          <p:nvPr/>
        </p:nvSpPr>
        <p:spPr>
          <a:xfrm>
            <a:off x="6949440" y="15087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DA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+107%</a:t>
            </a:r>
            <a:endParaRPr lang="en-US" sz="4800" dirty="0"/>
          </a:p>
        </p:txBody>
      </p:sp>
      <p:sp>
        <p:nvSpPr>
          <p:cNvPr id="11" name="Text 8"/>
          <p:cNvSpPr/>
          <p:nvPr/>
        </p:nvSpPr>
        <p:spPr>
          <a:xfrm>
            <a:off x="6949440" y="2514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A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ASSET GROWTH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94944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Just 24 Months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949440" y="3840480"/>
            <a:ext cx="45720" cy="1463040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14" name="Text 11"/>
          <p:cNvSpPr/>
          <p:nvPr/>
        </p:nvSpPr>
        <p:spPr>
          <a:xfrm>
            <a:off x="7178040" y="3840480"/>
            <a:ext cx="4343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Reservas correctamente asignadas en 5 categorías: Pintura, Sellado, Reserva General, Intereses y Reemplazo de Techo.</a:t>
            </a:r>
            <a:endParaRPr lang="en-US" sz="1300" dirty="0"/>
          </a:p>
        </p:txBody>
      </p:sp>
      <p:pic>
        <p:nvPicPr>
          <p:cNvPr id="15" name="Image 0" descr="/Users/frankhernandez/Documents/GitHub/aspmg-web/src/templates/aspmg-presentation-es/img/logo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02920" y="6382512"/>
            <a:ext cx="310896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616952" y="63550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Doral Grand Condominium Inc.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Economía Milagrosa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Seasons Villas &amp; Townhomes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737360"/>
            <a:ext cx="731520" cy="41148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20240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Seasons tenía una deuda de línea de crédito de $318K. Bajo ASPMG, la pagamos por completo mientras los activos totales crecían un 73% y reestructurábamos las reservas para cumplir los nuevos requisitos de Florida.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926080"/>
          <a:ext cx="57607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371600"/>
                <a:gridCol w="1371600"/>
                <a:gridCol w="1097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Assets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$804,782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$1,392,951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&amp; Savings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$555,378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$1,198,615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Line Debt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$318,728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Reserves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$445,921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$518,077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949440" y="1097280"/>
            <a:ext cx="4572000" cy="2011680"/>
          </a:xfrm>
          <a:prstGeom prst="roundRect">
            <a:avLst>
              <a:gd name="adj" fmla="val 5455"/>
            </a:avLst>
          </a:prstGeom>
          <a:solidFill>
            <a:srgbClr val="1B2A4A"/>
          </a:solidFill>
          <a:ln/>
        </p:spPr>
      </p:sp>
      <p:sp>
        <p:nvSpPr>
          <p:cNvPr id="10" name="Text 7"/>
          <p:cNvSpPr/>
          <p:nvPr/>
        </p:nvSpPr>
        <p:spPr>
          <a:xfrm>
            <a:off x="6949440" y="13716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DA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$318,728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6949440" y="2240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A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DEUDA DE LÍNEA DE CRÉDITO → ELIMINADA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949440" y="3383280"/>
            <a:ext cx="45720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7178040" y="35204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REESTRUCTURACIÓN DE RESERVAS (CONFORME A SB 4-D)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178040" y="3886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Impermeabilización
</a:t>
            </a:r>
            <a:pPr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8D7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$348,152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326880" y="3886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Techo
</a:t>
            </a:r>
            <a:pPr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8D7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$93,181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178040" y="4389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Electricidad
</a:t>
            </a:r>
            <a:pPr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8D7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$28,615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9326880" y="4389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Plomería
</a:t>
            </a:r>
            <a:pPr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8D7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$24,909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178040" y="48920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contra Incendios
</a:t>
            </a:r>
            <a:pPr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8D7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$14,214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9326880" y="48920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
</a:t>
            </a:r>
            <a:pPr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8D7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$7,048</a:t>
            </a:r>
            <a:endParaRPr lang="en-US" sz="900" dirty="0"/>
          </a:p>
        </p:txBody>
      </p:sp>
      <p:pic>
        <p:nvPicPr>
          <p:cNvPr id="20" name="Image 0" descr="/Users/frankhernandez/Documents/GitHub/aspmg-web/src/templates/aspmg-presentation-es/img/logo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02920" y="6382512"/>
            <a:ext cx="310896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616952" y="63550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Seasons Villas &amp; Townhomes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$200K de Ahorro en Seguros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Laguna Club Condominium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737360"/>
            <a:ext cx="731520" cy="41148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2024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administración anterior pagaba más de </a:t>
            </a:r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$550K al año</a:t>
            </a:r>
            <a:pPr indent="0" marL="0">
              <a:buNone/>
            </a:pPr>
            <a:r>
              <a:rPr lang="en-US" sz="11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Conseguimos </a:t>
            </a:r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exactamente la misma cobertura por $350K</a:t>
            </a:r>
            <a:pPr indent="0" marL="0">
              <a:buNone/>
            </a:pPr>
            <a:r>
              <a:rPr lang="en-US" sz="11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un ahorro de más de $200,000 cada año.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5760720" cy="777240"/>
          </a:xfrm>
          <a:prstGeom prst="roundRect">
            <a:avLst>
              <a:gd name="adj" fmla="val 7059"/>
            </a:avLst>
          </a:prstGeom>
          <a:solidFill>
            <a:srgbClr val="E8F5EE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788920"/>
            <a:ext cx="45720" cy="77724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889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$200,000 de vuelta al bolsillo de la asociación — cada año. Misma cobertura. Administración más inteligente.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7947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lo Logramos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13232" y="4242816"/>
            <a:ext cx="91440" cy="91440"/>
          </a:xfrm>
          <a:prstGeom prst="ellipse">
            <a:avLst/>
          </a:prstGeom>
          <a:solidFill>
            <a:srgbClr val="A8906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Licitación competitiva con múltiples aseguradoras — no solo una cotización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" y="4626864"/>
            <a:ext cx="91440" cy="91440"/>
          </a:xfrm>
          <a:prstGeom prst="ellipse">
            <a:avLst/>
          </a:prstGeom>
          <a:solidFill>
            <a:srgbClr val="A89060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54456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Aprovechamos relaciones de portafolio para mejores tarifas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3232" y="5010912"/>
            <a:ext cx="91440" cy="91440"/>
          </a:xfrm>
          <a:prstGeom prst="ellipse">
            <a:avLst/>
          </a:prstGeom>
          <a:solidFill>
            <a:srgbClr val="A8906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92861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optimizada sin reducir la protección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13232" y="5394960"/>
            <a:ext cx="91440" cy="91440"/>
          </a:xfrm>
          <a:prstGeom prst="ellipse">
            <a:avLst/>
          </a:prstGeom>
          <a:solidFill>
            <a:srgbClr val="A89060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31266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Eliminamos cargos innecesarios y cláusulas redundantes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5779008"/>
            <a:ext cx="91440" cy="91440"/>
          </a:xfrm>
          <a:prstGeom prst="ellipse">
            <a:avLst/>
          </a:prstGeom>
          <a:solidFill>
            <a:srgbClr val="A89060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69671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anual continua para evitar aumentos de prima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949440" y="1097280"/>
            <a:ext cx="4572000" cy="3017520"/>
          </a:xfrm>
          <a:prstGeom prst="roundRect">
            <a:avLst>
              <a:gd name="adj" fmla="val 4545"/>
            </a:avLst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0" y="1325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ANUAL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49440" y="16002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BDA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$200K+</a:t>
            </a:r>
            <a:endParaRPr lang="en-US" sz="4600" dirty="0"/>
          </a:p>
        </p:txBody>
      </p:sp>
      <p:sp>
        <p:nvSpPr>
          <p:cNvPr id="25" name="Text 23"/>
          <p:cNvSpPr/>
          <p:nvPr/>
        </p:nvSpPr>
        <p:spPr>
          <a:xfrm>
            <a:off x="6949440" y="2468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Ahorrados por año — misma cobertura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0" y="29718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900" spc="150" kern="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ASPMG
</a:t>
            </a:r>
            <a:pPr algn="ctr" indent="0" marL="0">
              <a:lnSpc>
                <a:spcPts val="2200"/>
              </a:lnSpc>
              <a:buNone/>
            </a:pPr>
            <a:r>
              <a:rPr lang="en-US" sz="2200" strike="sngStrike" dirty="0">
                <a:solidFill>
                  <a:srgbClr val="8C97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~$550K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326880" y="29718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900" spc="150" kern="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ASPMG
</a:t>
            </a:r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BDA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$350K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49440" y="4343400"/>
            <a:ext cx="2194560" cy="731520"/>
          </a:xfrm>
          <a:prstGeom prst="roundRect">
            <a:avLst>
              <a:gd name="adj" fmla="val 7500"/>
            </a:avLst>
          </a:prstGeom>
          <a:solidFill>
            <a:srgbClr val="F4F6FA"/>
          </a:solidFill>
          <a:ln/>
        </p:spPr>
      </p:sp>
      <p:sp>
        <p:nvSpPr>
          <p:cNvPr id="29" name="Text 27"/>
          <p:cNvSpPr/>
          <p:nvPr/>
        </p:nvSpPr>
        <p:spPr>
          <a:xfrm>
            <a:off x="7086600" y="4416552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spc="100" kern="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
</a:t>
            </a:r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Especial + Viento/Granizo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9326880" y="4343400"/>
            <a:ext cx="2194560" cy="731520"/>
          </a:xfrm>
          <a:prstGeom prst="roundRect">
            <a:avLst>
              <a:gd name="adj" fmla="val 7500"/>
            </a:avLst>
          </a:prstGeom>
          <a:solidFill>
            <a:srgbClr val="F4F6FA"/>
          </a:solidFill>
          <a:ln/>
        </p:spPr>
      </p:sp>
      <p:sp>
        <p:nvSpPr>
          <p:cNvPr id="31" name="Text 29"/>
          <p:cNvSpPr/>
          <p:nvPr/>
        </p:nvSpPr>
        <p:spPr>
          <a:xfrm>
            <a:off x="9464040" y="4416552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spc="100" kern="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ASEGURADORA
</a:t>
            </a:r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Insurance Co.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949440" y="5212080"/>
            <a:ext cx="2194560" cy="731520"/>
          </a:xfrm>
          <a:prstGeom prst="roundRect">
            <a:avLst>
              <a:gd name="adj" fmla="val 7500"/>
            </a:avLst>
          </a:prstGeom>
          <a:solidFill>
            <a:srgbClr val="F4F6FA"/>
          </a:solidFill>
          <a:ln/>
        </p:spPr>
      </p:sp>
      <p:sp>
        <p:nvSpPr>
          <p:cNvPr id="33" name="Text 31"/>
          <p:cNvSpPr/>
          <p:nvPr/>
        </p:nvSpPr>
        <p:spPr>
          <a:xfrm>
            <a:off x="7086600" y="5285232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spc="100" kern="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ORD/LEY
</a:t>
            </a:r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$1,000,000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9326880" y="5212080"/>
            <a:ext cx="2194560" cy="731520"/>
          </a:xfrm>
          <a:prstGeom prst="roundRect">
            <a:avLst>
              <a:gd name="adj" fmla="val 7500"/>
            </a:avLst>
          </a:prstGeom>
          <a:solidFill>
            <a:srgbClr val="F4F6FA"/>
          </a:solidFill>
          <a:ln/>
        </p:spPr>
      </p:sp>
      <p:sp>
        <p:nvSpPr>
          <p:cNvPr id="35" name="Text 33"/>
          <p:cNvSpPr/>
          <p:nvPr/>
        </p:nvSpPr>
        <p:spPr>
          <a:xfrm>
            <a:off x="9464040" y="5285232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spc="100" kern="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
</a:t>
            </a:r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8D7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Avería de Equipos</a:t>
            </a:r>
            <a:endParaRPr lang="en-US" sz="800" dirty="0"/>
          </a:p>
        </p:txBody>
      </p:sp>
      <p:pic>
        <p:nvPicPr>
          <p:cNvPr id="36" name="Image 0" descr="/Users/frankhernandez/Documents/GitHub/aspmg-web/src/templates/aspmg-presentation-es/img/logo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02920" y="6382512"/>
            <a:ext cx="310896" cy="27432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7616952" y="63550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Laguna Club Condominium Assoc.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058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3240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77240" y="23774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Administración de Proyectos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22960" y="3429000"/>
            <a:ext cx="731520" cy="41148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657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Supervisión integral de proyectos de mejoras capitales con documentación fotográfica completa y transparencia con la junta.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E6E9F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CAPITALES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Reemplazo de Techo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731520" cy="41148"/>
          </a:xfrm>
          <a:prstGeom prst="rect">
            <a:avLst/>
          </a:prstGeom>
          <a:solidFill>
            <a:srgbClr val="A89060"/>
          </a:solidFill>
          <a:ln/>
        </p:spPr>
      </p:sp>
      <p:pic>
        <p:nvPicPr>
          <p:cNvPr id="6" name="Image 0" descr="/Users/frankhernandez/Documents/GitHub/aspmg-web/src/templates/aspmg-presentation-es/img/roof-befor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691640"/>
            <a:ext cx="5440680" cy="3063240"/>
          </a:xfrm>
          <a:prstGeom prst="rect">
            <a:avLst/>
          </a:prstGeom>
        </p:spPr>
      </p:pic>
      <p:pic>
        <p:nvPicPr>
          <p:cNvPr id="7" name="Image 1" descr="/Users/frankhernandez/Documents/GitHub/aspmg-web/src/templates/aspmg-presentation-es/img/roof-after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55080" y="1691640"/>
            <a:ext cx="5440680" cy="30632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68680" y="192024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9" name="Text 5"/>
          <p:cNvSpPr/>
          <p:nvPr/>
        </p:nvSpPr>
        <p:spPr>
          <a:xfrm>
            <a:off x="868680" y="19202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6583680" y="192024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A89060"/>
          </a:solidFill>
          <a:ln/>
        </p:spPr>
      </p:sp>
      <p:sp>
        <p:nvSpPr>
          <p:cNvPr id="11" name="Text 7"/>
          <p:cNvSpPr/>
          <p:nvPr/>
        </p:nvSpPr>
        <p:spPr>
          <a:xfrm>
            <a:off x="6583680" y="19202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40080" y="5029200"/>
            <a:ext cx="45720" cy="1051560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13" name="Text 9"/>
          <p:cNvSpPr/>
          <p:nvPr/>
        </p:nvSpPr>
        <p:spPr>
          <a:xfrm>
            <a:off x="868680" y="502920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Reemplazo completo de techo administrado desde la licitación hasta la inspección final — a tiempo y dentro del presupuesto. Techo metálico moderno de junta alzada para durabilidad a largo plazo.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4983480"/>
            <a:ext cx="1737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046720" y="5120640"/>
            <a:ext cx="173736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9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8138160" y="5646420"/>
            <a:ext cx="1554480" cy="434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9966960" y="4983480"/>
            <a:ext cx="1737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9966960" y="5120640"/>
            <a:ext cx="173736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9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Dron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10058400" y="5646420"/>
            <a:ext cx="1554480" cy="434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DOCUMENTADO</a:t>
            </a:r>
            <a:endParaRPr lang="en-US" sz="800" dirty="0"/>
          </a:p>
        </p:txBody>
      </p:sp>
      <p:pic>
        <p:nvPicPr>
          <p:cNvPr id="20" name="Image 2" descr="/Users/frankhernandez/Documents/GitHub/aspmg-web/src/templates/aspmg-presentation-es/img/logo.png">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502920" y="6382512"/>
            <a:ext cx="310896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616952" y="63550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C-West Building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E6E9F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PROJECTS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Pintura de Edificios — Antes y Después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Ibiza Village Condominium Association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737360"/>
            <a:ext cx="731520" cy="41148"/>
          </a:xfrm>
          <a:prstGeom prst="rect">
            <a:avLst/>
          </a:prstGeom>
          <a:solidFill>
            <a:srgbClr val="A89060"/>
          </a:solidFill>
          <a:ln/>
        </p:spPr>
      </p:sp>
      <p:pic>
        <p:nvPicPr>
          <p:cNvPr id="7" name="Image 0" descr="/Users/frankhernandez/Documents/GitHub/aspmg-web/src/templates/aspmg-presentation-es/img/ibiza-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011680"/>
            <a:ext cx="3566160" cy="2743200"/>
          </a:xfrm>
          <a:prstGeom prst="rect">
            <a:avLst/>
          </a:prstGeom>
        </p:spPr>
      </p:pic>
      <p:pic>
        <p:nvPicPr>
          <p:cNvPr id="8" name="Image 1" descr="/Users/frankhernandez/Documents/GitHub/aspmg-web/src/templates/aspmg-presentation-es/img/ibiza-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0" y="2011680"/>
            <a:ext cx="3566160" cy="2743200"/>
          </a:xfrm>
          <a:prstGeom prst="rect">
            <a:avLst/>
          </a:prstGeom>
        </p:spPr>
      </p:pic>
      <p:pic>
        <p:nvPicPr>
          <p:cNvPr id="9" name="Image 2" descr="/Users/frankhernandez/Documents/GitHub/aspmg-web/src/templates/aspmg-presentation-es/img/ibiza-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38160" y="2011680"/>
            <a:ext cx="3566160" cy="27432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40080" y="5074920"/>
            <a:ext cx="45720" cy="1005840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11" name="Text 6"/>
          <p:cNvSpPr/>
          <p:nvPr/>
        </p:nvSpPr>
        <p:spPr>
          <a:xfrm>
            <a:off x="868680" y="507492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Proyecto completo de pintura exterior que transformó edificios descoloridos y desgastados en una estética comunitaria vibrante y moderna — administrado desde la selección de colores hasta el recorrido final.</a:t>
            </a:r>
            <a:endParaRPr lang="en-US" sz="1250" dirty="0"/>
          </a:p>
        </p:txBody>
      </p:sp>
      <p:pic>
        <p:nvPicPr>
          <p:cNvPr id="12" name="Image 3" descr="/Users/frankhernandez/Documents/GitHub/aspmg-web/src/templates/aspmg-presentation-es/img/logo.png">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502920" y="6382512"/>
            <a:ext cx="310896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616952" y="63550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Ibiza Village Condominium Assoc.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E6E9F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PROJECTS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Reemplazo de Pisos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Bleau Fontaine Condominium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737360"/>
            <a:ext cx="731520" cy="41148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202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Losa de terracota anticuada transformada en porcelanato gris moderno en vestíbulos, pasillos y escaleras.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68680" y="2880360"/>
            <a:ext cx="22860" cy="3017520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2880360"/>
            <a:ext cx="155448" cy="155448"/>
          </a:xfrm>
          <a:prstGeom prst="ellipse">
            <a:avLst/>
          </a:prstGeom>
          <a:solidFill>
            <a:srgbClr val="A8906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788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Licitación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30815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Ofertas competitivas obtenidas y presentadas a la junta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4672" y="3721608"/>
            <a:ext cx="155448" cy="155448"/>
          </a:xfrm>
          <a:prstGeom prst="ellipse">
            <a:avLst/>
          </a:prstGeom>
          <a:solidFill>
            <a:srgbClr val="A8906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36301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Materiales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392277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Porcelanato aprobado por la junta con acabado antideslizante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4672" y="4562856"/>
            <a:ext cx="155448" cy="155448"/>
          </a:xfrm>
          <a:prstGeom prst="ellipse">
            <a:avLst/>
          </a:prstGeom>
          <a:solidFill>
            <a:srgbClr val="A8906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44714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y Supervisión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476402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diario con mínima interrupción para los residentes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4672" y="5404104"/>
            <a:ext cx="155448" cy="155448"/>
          </a:xfrm>
          <a:prstGeom prst="ellipse">
            <a:avLst/>
          </a:prstGeom>
          <a:solidFill>
            <a:srgbClr val="A8906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53126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Inspección Final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3000" y="56052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de calidad y documentación de antes y después</a:t>
            </a:r>
            <a:endParaRPr lang="en-US" sz="1000" dirty="0"/>
          </a:p>
        </p:txBody>
      </p:sp>
      <p:pic>
        <p:nvPicPr>
          <p:cNvPr id="21" name="Image 0" descr="/Users/frankhernandez/Documents/GitHub/aspmg-web/src/templates/aspmg-presentation-es/img/bf2-floor-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914400"/>
            <a:ext cx="5120640" cy="5212080"/>
          </a:xfrm>
          <a:prstGeom prst="rect">
            <a:avLst/>
          </a:prstGeom>
        </p:spPr>
      </p:pic>
      <p:pic>
        <p:nvPicPr>
          <p:cNvPr id="22" name="Image 1" descr="/Users/frankhernandez/Documents/GitHub/aspmg-web/src/templates/aspmg-presentation-es/img/logo.png">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502920" y="6382512"/>
            <a:ext cx="310896" cy="274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616952" y="63550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Bleau Fontaine Condo No. 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6E9F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DE AMENIDADES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Renovación y Mantenimiento de Piscinas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731520" cy="41148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vaciado hasta la renovación de la superficie y el llenado final — cada paso documentado con fotos y reportado a la junta. Nuestro enfoque práctico garantiza control de calidad en cada etapa.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697480"/>
            <a:ext cx="41148" cy="1417320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788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Vaciada e Inspeccionada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" y="3081528"/>
            <a:ext cx="292608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Vaciado completo, inspección estructural y evaluación de la superficie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23360" y="269748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023360" y="2697480"/>
            <a:ext cx="41148" cy="1417320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13" name="Text 11"/>
          <p:cNvSpPr/>
          <p:nvPr/>
        </p:nvSpPr>
        <p:spPr>
          <a:xfrm>
            <a:off x="4187952" y="2788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Renovada y Llenada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87952" y="3081528"/>
            <a:ext cx="292608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de nuevo repello, balance químico y reapertura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429768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4297680"/>
            <a:ext cx="41148" cy="1417320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43891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Documentada con Fotos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" y="4681728"/>
            <a:ext cx="292608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fase capturada y compartida con la junta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023360" y="429768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023360" y="4297680"/>
            <a:ext cx="41148" cy="1417320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21" name="Text 19"/>
          <p:cNvSpPr/>
          <p:nvPr/>
        </p:nvSpPr>
        <p:spPr>
          <a:xfrm>
            <a:off x="4187952" y="43891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 Supervisados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87952" y="4681728"/>
            <a:ext cx="292608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contratistas verificados, asegurados y supervisados en sitio</a:t>
            </a:r>
            <a:endParaRPr lang="en-US" sz="1000" dirty="0"/>
          </a:p>
        </p:txBody>
      </p:sp>
      <p:pic>
        <p:nvPicPr>
          <p:cNvPr id="23" name="Image 0" descr="/Users/frankhernandez/Documents/GitHub/aspmg-web/src/templates/aspmg-presentation-es/img/pool-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89520" y="777240"/>
            <a:ext cx="3931920" cy="5212080"/>
          </a:xfrm>
          <a:prstGeom prst="rect">
            <a:avLst/>
          </a:prstGeom>
        </p:spPr>
      </p:pic>
      <p:pic>
        <p:nvPicPr>
          <p:cNvPr id="24" name="Image 1" descr="/Users/frankhernandez/Documents/GitHub/aspmg-web/src/templates/aspmg-presentation-es/img/logo.png">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502920" y="6382512"/>
            <a:ext cx="310896" cy="2743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616952" y="63550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de Piscinas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058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3240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77240" y="23774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Inspecciones Proactivas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22960" y="3429000"/>
            <a:ext cx="731520" cy="41148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657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de inspección detallados y documentados con fotos que detectan problemas a tiempo y dan seguimiento a su resolución.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FE9D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D7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CALIDAD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Reportes de Inspección Detallados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Shamrock Condominium — Feb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1691640"/>
            <a:ext cx="731520" cy="41148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Inspecciones regulares en sitio con fotos numeradas, descripciones detalladas y seguimiento de cada problema.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56692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74320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Documentamos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309067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Cumplimiento de almacenamiento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20440" y="309067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Seguimiento de filtros de A/C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339242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Permisos de alarma de incendio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20440" y="339242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Iluminación y electricidad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369417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Violaciones en áreas comunes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20440" y="369417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Condición de la piscina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39959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Jardinería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20440" y="39959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Plomería y estructura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461772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4771339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9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31520" y="5360213"/>
            <a:ext cx="1600200" cy="486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606040" y="461772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606040" y="4771339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9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15+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697480" y="5360213"/>
            <a:ext cx="1600200" cy="486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0" y="4617720"/>
            <a:ext cx="1737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0" y="4771339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9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663440" y="5360213"/>
            <a:ext cx="1554480" cy="486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RASTREADO</a:t>
            </a:r>
            <a:endParaRPr lang="en-US" sz="900" dirty="0"/>
          </a:p>
        </p:txBody>
      </p:sp>
      <p:pic>
        <p:nvPicPr>
          <p:cNvPr id="27" name="Image 0" descr="/Users/frankhernandez/Documents/GitHub/aspmg-web/src/templates/aspmg-presentation-es/img/inspection-0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0" y="1463040"/>
            <a:ext cx="1554480" cy="2011680"/>
          </a:xfrm>
          <a:prstGeom prst="rect">
            <a:avLst/>
          </a:prstGeom>
        </p:spPr>
      </p:pic>
      <p:pic>
        <p:nvPicPr>
          <p:cNvPr id="28" name="Image 1" descr="/Users/frankhernandez/Documents/GitHub/aspmg-web/src/templates/aspmg-presentation-es/img/inspection-0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458200" y="1463040"/>
            <a:ext cx="1554480" cy="2011680"/>
          </a:xfrm>
          <a:prstGeom prst="rect">
            <a:avLst/>
          </a:prstGeom>
        </p:spPr>
      </p:pic>
      <p:pic>
        <p:nvPicPr>
          <p:cNvPr id="29" name="Image 2" descr="/Users/frankhernandez/Documents/GitHub/aspmg-web/src/templates/aspmg-presentation-es/img/inspection-0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149840" y="1463040"/>
            <a:ext cx="1554480" cy="2011680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6766560" y="3703320"/>
            <a:ext cx="49377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31" name="Text 26"/>
          <p:cNvSpPr/>
          <p:nvPr/>
        </p:nvSpPr>
        <p:spPr>
          <a:xfrm>
            <a:off x="6995160" y="388620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completa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observación numerada, fotografiada y rastreada con notas de seguimiento — problemas identificados, filtros de A/C registrados con fecha de cambio y soluciones confirmadas en la siguiente visita.</a:t>
            </a:r>
            <a:endParaRPr lang="en-US" sz="1200" dirty="0"/>
          </a:p>
        </p:txBody>
      </p:sp>
      <p:pic>
        <p:nvPicPr>
          <p:cNvPr id="32" name="Image 3" descr="/Users/frankhernandez/Documents/GitHub/aspmg-web/src/templates/aspmg-presentation-es/img/logo.png">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502920" y="6382512"/>
            <a:ext cx="310896" cy="2743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616952" y="63550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Shamrock Condominium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0076" y="50292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3A4A6E"/>
          </a:solidFill>
          <a:ln/>
        </p:spPr>
      </p:sp>
      <p:sp>
        <p:nvSpPr>
          <p:cNvPr id="3" name="Text 1"/>
          <p:cNvSpPr/>
          <p:nvPr/>
        </p:nvSpPr>
        <p:spPr>
          <a:xfrm>
            <a:off x="5180076" y="5029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BDA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PROMESA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91440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Transparencia Total con Su Junta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728716" y="1645920"/>
            <a:ext cx="731520" cy="41148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18288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dólar contabilizado. Cada proyecto documentado. Cada decisión informada por datos.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3796" y="25146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263656"/>
          </a:solidFill>
          <a:ln w="9525">
            <a:solidFill>
              <a:srgbClr val="3647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0956" y="26974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Mensuales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90956" y="320040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de resultados, balances y conciliaciones bancarias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42716" y="25146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263656"/>
          </a:solidFill>
          <a:ln w="9525">
            <a:solidFill>
              <a:srgbClr val="3647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79876" y="26974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Fotográficos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79876" y="320040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Inspecciones y avances de proyectos con imágenes completas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31636" y="25146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263656"/>
          </a:solidFill>
          <a:ln w="9525">
            <a:solidFill>
              <a:srgbClr val="3647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8796" y="26974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 Reservas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68796" y="320040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fondos y proyecciones en tiempo real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20556" y="25146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263656"/>
          </a:solidFill>
          <a:ln w="9525">
            <a:solidFill>
              <a:srgbClr val="3647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57716" y="26974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Abierta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57716" y="320040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directa con su administrador — siempre disponible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834640" y="4709160"/>
            <a:ext cx="45720" cy="1097280"/>
          </a:xfrm>
          <a:prstGeom prst="rect">
            <a:avLst/>
          </a:prstGeom>
          <a:solidFill>
            <a:srgbClr val="BDA87A"/>
          </a:solidFill>
          <a:ln/>
        </p:spPr>
      </p:sp>
      <p:sp>
        <p:nvSpPr>
          <p:cNvPr id="20" name="Text 18"/>
          <p:cNvSpPr/>
          <p:nvPr/>
        </p:nvSpPr>
        <p:spPr>
          <a:xfrm>
            <a:off x="3063240" y="47091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8DE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"Una junta informada toma mejores decisiones. Proporcionamos más datos, con más frecuencia y con más contexto que cualquier otra compañía de administración."</a:t>
            </a:r>
            <a:endParaRPr lang="en-US" sz="1300" dirty="0"/>
          </a:p>
        </p:txBody>
      </p:sp>
      <p:pic>
        <p:nvPicPr>
          <p:cNvPr id="21" name="Image 0" descr="/Users/frankhernandez/Documents/GitHub/aspmg-web/src/templates/aspmg-presentation-es/img/logo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502920" y="6382512"/>
            <a:ext cx="310896" cy="2743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616952" y="63550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 con la Junta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97196" y="41148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EFE9DC"/>
          </a:solidFill>
          <a:ln/>
        </p:spPr>
      </p:sp>
      <p:sp>
        <p:nvSpPr>
          <p:cNvPr id="3" name="Text 1"/>
          <p:cNvSpPr/>
          <p:nvPr/>
        </p:nvSpPr>
        <p:spPr>
          <a:xfrm>
            <a:off x="4997196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D7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SOCIO CORRECTO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77724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¿Por Qué ASPMG para Su Comunidad?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728716" y="1463040"/>
            <a:ext cx="731520" cy="41148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6" name="Shape 4"/>
          <p:cNvSpPr/>
          <p:nvPr/>
        </p:nvSpPr>
        <p:spPr>
          <a:xfrm>
            <a:off x="562356" y="182880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2356" y="1828800"/>
            <a:ext cx="41148" cy="1280160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8" name="Text 6"/>
          <p:cNvSpPr/>
          <p:nvPr/>
        </p:nvSpPr>
        <p:spPr>
          <a:xfrm>
            <a:off x="726948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9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48156" y="1938528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Financieros Comprobados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48156" y="2258568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Hacemos crecer las reservas y eliminamos deudas. Nuestro historial habla a través de balances, no de promesas.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77356" y="182880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77356" y="1828800"/>
            <a:ext cx="41148" cy="1280160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13" name="Text 11"/>
          <p:cNvSpPr/>
          <p:nvPr/>
        </p:nvSpPr>
        <p:spPr>
          <a:xfrm>
            <a:off x="6441948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9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963156" y="1938528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Que Empodera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63156" y="2258568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ApplyHOA da a su junta y residentes acceso 24/7 a pagos, documentos y datos en tiempo real.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2356" y="333756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2356" y="3337560"/>
            <a:ext cx="41148" cy="1280160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18" name="Text 16"/>
          <p:cNvSpPr/>
          <p:nvPr/>
        </p:nvSpPr>
        <p:spPr>
          <a:xfrm>
            <a:off x="726948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9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48156" y="3447288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Práctica de Proyectos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48156" y="3767328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Techos, piscinas, pintura — cada detalle supervisado, cada fase documentada, entregado a tiempo.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77356" y="333756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77356" y="3337560"/>
            <a:ext cx="41148" cy="1280160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23" name="Text 21"/>
          <p:cNvSpPr/>
          <p:nvPr/>
        </p:nvSpPr>
        <p:spPr>
          <a:xfrm>
            <a:off x="6441948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9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63156" y="3447288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Proactivos, No Reactivos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63156" y="3767328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Inspecciones detalladas detectan problemas antes de que sean emergencias. Identificamos, documentamos y resolvemos.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2356" y="484632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62356" y="4846320"/>
            <a:ext cx="41148" cy="1280160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28" name="Text 26"/>
          <p:cNvSpPr/>
          <p:nvPr/>
        </p:nvSpPr>
        <p:spPr>
          <a:xfrm>
            <a:off x="726948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9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248156" y="4956048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en Seguros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48156" y="5276088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Ahorramos a Laguna Club $200K/año — misma cobertura. Poder de portafolio para tarifas que ninguna asociación logra sola.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77356" y="484632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77356" y="4846320"/>
            <a:ext cx="41148" cy="1280160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33" name="Text 31"/>
          <p:cNvSpPr/>
          <p:nvPr/>
        </p:nvSpPr>
        <p:spPr>
          <a:xfrm>
            <a:off x="6441948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9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963156" y="4956048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Listos para Cumplir SB 4-D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63156" y="5276088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ya reestructuradas en todo nuestro portafolio para los requisitos de integridad estructural de Florida.</a:t>
            </a:r>
            <a:endParaRPr lang="en-US" sz="1000" dirty="0"/>
          </a:p>
        </p:txBody>
      </p:sp>
      <p:pic>
        <p:nvPicPr>
          <p:cNvPr id="36" name="Image 0" descr="/Users/frankhernandez/Documents/GitHub/aspmg-web/src/templates/aspmg-presentation-es/img/logo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02920" y="6382512"/>
            <a:ext cx="310896" cy="27432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7616952" y="63550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ASPMG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rankhernandez/Documents/GitHub/aspmg-web/src/templates/aspmg-presentation-es/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8676" y="594360"/>
            <a:ext cx="1371600" cy="12252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965960"/>
            <a:ext cx="12188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Construyamos Algo
</a:t>
            </a:r>
            <a:pPr algn="ctr"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BDA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Grandioso Juntos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637276" y="3520440"/>
            <a:ext cx="914400" cy="41148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5" name="Text 2"/>
          <p:cNvSpPr/>
          <p:nvPr/>
        </p:nvSpPr>
        <p:spPr>
          <a:xfrm>
            <a:off x="3168396" y="370332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listos para llevar el mismo nivel de excelencia, transparencia e innovación a su comunidad.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110996" y="4572000"/>
            <a:ext cx="3108960" cy="1005840"/>
          </a:xfrm>
          <a:prstGeom prst="roundRect">
            <a:avLst>
              <a:gd name="adj" fmla="val 9091"/>
            </a:avLst>
          </a:prstGeom>
          <a:solidFill>
            <a:srgbClr val="263656"/>
          </a:solidFill>
          <a:ln w="9525">
            <a:solidFill>
              <a:srgbClr val="36476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93876" y="45720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50" b="1" spc="200" kern="0" dirty="0">
                <a:solidFill>
                  <a:srgbClr val="BDA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TELÉFONO
</a:t>
            </a:r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2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(305) 661-8400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539996" y="4572000"/>
            <a:ext cx="3108960" cy="1005840"/>
          </a:xfrm>
          <a:prstGeom prst="roundRect">
            <a:avLst>
              <a:gd name="adj" fmla="val 9091"/>
            </a:avLst>
          </a:prstGeom>
          <a:solidFill>
            <a:srgbClr val="263656"/>
          </a:solidFill>
          <a:ln w="9525">
            <a:solidFill>
              <a:srgbClr val="3647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22876" y="45720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50" b="1" spc="200" kern="0" dirty="0">
                <a:solidFill>
                  <a:srgbClr val="BDA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
</a:t>
            </a:r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2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www.aspmg.com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968996" y="4572000"/>
            <a:ext cx="3108960" cy="1005840"/>
          </a:xfrm>
          <a:prstGeom prst="roundRect">
            <a:avLst>
              <a:gd name="adj" fmla="val 9091"/>
            </a:avLst>
          </a:prstGeom>
          <a:solidFill>
            <a:srgbClr val="263656"/>
          </a:solidFill>
          <a:ln w="9525">
            <a:solidFill>
              <a:srgbClr val="3647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51876" y="45720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50" b="1" spc="200" kern="0" dirty="0">
                <a:solidFill>
                  <a:srgbClr val="BDA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
</a:t>
            </a:r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2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Grand Canal Dr, Suite 201</a:t>
            </a:r>
            <a:endParaRPr lang="en-US" sz="8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2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Miami, FL 33144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0" y="612648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566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SOLID PROPERTY MANAGEMENT GROUP INC.  •  CONFIDENCIAL  •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ASPMG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ASPMG — Propuesta de Administración</dc:title>
  <dc:subject>PptxGenJS Presentation</dc:subject>
  <dc:creator>A Solid Property Management Group</dc:creator>
  <cp:lastModifiedBy>A Solid Property Management Group</cp:lastModifiedBy>
  <cp:revision>1</cp:revision>
  <dcterms:created xsi:type="dcterms:W3CDTF">2026-06-11T11:52:24Z</dcterms:created>
  <dcterms:modified xsi:type="dcterms:W3CDTF">2026-06-11T11:52:24Z</dcterms:modified>
</cp:coreProperties>
</file>