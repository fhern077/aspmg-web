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rankhernandez/Documents/GitHub/aspmg-web/src/templates/aspmg-presentation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5796" y="685800"/>
            <a:ext cx="1737360" cy="1554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37744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PROPERTY MANAGEMENT GROUP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637276" y="2971800"/>
            <a:ext cx="91440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32918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6E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EXCLUSIVELY FOR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0" y="36118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DA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Community Association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57607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566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PROPERTY MANAGEMENT GROUP  •  MIAMI, FLORIDA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3240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7724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We Are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342900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657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full-service property management firm built on transparency, technology, and financial excellence for South Florida's condominium associations.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8636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EFE9DC"/>
          </a:solidFill>
          <a:ln/>
        </p:spPr>
      </p:sp>
      <p:sp>
        <p:nvSpPr>
          <p:cNvPr id="3" name="Text 1"/>
          <p:cNvSpPr/>
          <p:nvPr/>
        </p:nvSpPr>
        <p:spPr>
          <a:xfrm>
            <a:off x="5088636" y="4572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D7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82296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ASPMG at a Glance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728716" y="160020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210312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" y="228965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68096" y="3004718"/>
            <a:ext cx="2286000" cy="590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EXPERIENCE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65576" y="210312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65576" y="228965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57016" y="3004718"/>
            <a:ext cx="2286000" cy="590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ASSOCIATIONS MANAGED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54496" y="210312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54496" y="228965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$50M+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45936" y="3004718"/>
            <a:ext cx="2286000" cy="590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UNDER MANAGEMENT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43416" y="210312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43416" y="228965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34856" y="3004718"/>
            <a:ext cx="2286000" cy="590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TRANSPARENCY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463040" y="4206240"/>
            <a:ext cx="45720" cy="137160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19" name="Text 17"/>
          <p:cNvSpPr/>
          <p:nvPr/>
        </p:nvSpPr>
        <p:spPr>
          <a:xfrm>
            <a:off x="1691640" y="4206240"/>
            <a:ext cx="8961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don't just manage properties — we transform communities through proactive financial stewardship, cutting-edge technology, and relentless attention to detail."</a:t>
            </a:r>
            <a:endParaRPr lang="en-US" sz="1500" dirty="0"/>
          </a:p>
        </p:txBody>
      </p:sp>
      <p:pic>
        <p:nvPicPr>
          <p:cNvPr id="20" name="Image 0" descr="/Users/frankhernandez/Documents/GitHub/aspmg-web/src/templates/aspmg-presentation/img/logo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" y="6382512"/>
            <a:ext cx="310896" cy="274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616952" y="6355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Grand Canal Dr, Suite 201  •  Miami, FL 33144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6E9F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US APART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ASPMG Difference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46304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41148" cy="141732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Stewardship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2212848"/>
            <a:ext cx="324612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reserves, eliminating debt, and saving over $200K on insurance — same coverage.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34840" y="18288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828800"/>
            <a:ext cx="41148" cy="141732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Technology-Driven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9432" y="2212848"/>
            <a:ext cx="324612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ApplyHOA delivers real-time reporting, owner portals, and digital management.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828800"/>
            <a:ext cx="41148" cy="141732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Radical Transparency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94192" y="2212848"/>
            <a:ext cx="324612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inspection reports, itemized financials, and open-book project management.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520440"/>
            <a:ext cx="41148" cy="141732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6118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3904488"/>
            <a:ext cx="324612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to pool — end-to-end capital projects with before/after documentation.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34840" y="35204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34840" y="3520440"/>
            <a:ext cx="41148" cy="141732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24" name="Text 22"/>
          <p:cNvSpPr/>
          <p:nvPr/>
        </p:nvSpPr>
        <p:spPr>
          <a:xfrm>
            <a:off x="4599432" y="36118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Inspections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99432" y="3904488"/>
            <a:ext cx="324612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page photo reports catch issues early and track every resolution.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35204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0" y="3520440"/>
            <a:ext cx="41148" cy="141732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28" name="Text 26"/>
          <p:cNvSpPr/>
          <p:nvPr/>
        </p:nvSpPr>
        <p:spPr>
          <a:xfrm>
            <a:off x="8394192" y="36118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Team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94192" y="3904488"/>
            <a:ext cx="324612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English/Spanish staff for clear communication with every resident.</a:t>
            </a:r>
            <a:endParaRPr lang="en-US" sz="1000" dirty="0"/>
          </a:p>
        </p:txBody>
      </p:sp>
      <p:pic>
        <p:nvPicPr>
          <p:cNvPr id="30" name="Image 0" descr="/Users/frankhernandez/Documents/GitHub/aspmg-web/src/templates/aspmg-presentation/img/logo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" y="6382512"/>
            <a:ext cx="310896" cy="27432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7616952" y="6355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aspmg.com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3240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7724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&amp; Innovation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342900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657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ApplyHOA — our proprietary platform that brings condominium management into the digital age.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FE9D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D7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APPLYHOA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Management, Real-Time Control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5740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proprietary platform built for Florida condo associations — replacing outdated paper processes with a fully digital ecosystem.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3017520"/>
            <a:ext cx="109728" cy="109728"/>
          </a:xfrm>
          <a:prstGeom prst="ellipse">
            <a:avLst/>
          </a:prstGeom>
          <a:solidFill>
            <a:srgbClr val="A8906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260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Portal — </a:t>
            </a:r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requests, and documents 24/7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584448"/>
            <a:ext cx="109728" cy="109728"/>
          </a:xfrm>
          <a:prstGeom prst="ellipse">
            <a:avLst/>
          </a:prstGeom>
          <a:solidFill>
            <a:srgbClr val="A8906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49300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Dashboard — </a:t>
            </a:r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financials, violations, project status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4151376"/>
            <a:ext cx="109728" cy="109728"/>
          </a:xfrm>
          <a:prstGeom prst="ellipse">
            <a:avLst/>
          </a:prstGeom>
          <a:solidFill>
            <a:srgbClr val="A8906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059936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Voting — </a:t>
            </a:r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online elections and amendments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718304"/>
            <a:ext cx="109728" cy="109728"/>
          </a:xfrm>
          <a:prstGeom prst="ellipse">
            <a:avLst/>
          </a:prstGeom>
          <a:solidFill>
            <a:srgbClr val="A8906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626864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Tracking — </a:t>
            </a:r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 order logged and resolved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285232"/>
            <a:ext cx="109728" cy="109728"/>
          </a:xfrm>
          <a:prstGeom prst="ellipse">
            <a:avLst/>
          </a:prstGeom>
          <a:solidFill>
            <a:srgbClr val="A8906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19379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Library — </a:t>
            </a:r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Bylaws, budgets, minutes — all searchable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1280160"/>
            <a:ext cx="4663440" cy="4572000"/>
          </a:xfrm>
          <a:prstGeom prst="roundRect">
            <a:avLst>
              <a:gd name="adj" fmla="val 3000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8288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Platform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58000" y="22860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device, anywhere, anytime.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69480" y="301752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3A4A6E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30175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D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595360" y="301752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3A4A6E"/>
          </a:solidFill>
          <a:ln/>
        </p:spPr>
      </p:sp>
      <p:sp>
        <p:nvSpPr>
          <p:cNvPr id="23" name="Text 21"/>
          <p:cNvSpPr/>
          <p:nvPr/>
        </p:nvSpPr>
        <p:spPr>
          <a:xfrm>
            <a:off x="8595360" y="30175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D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921240" y="301752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3A4A6E"/>
          </a:solidFill>
          <a:ln/>
        </p:spPr>
      </p:sp>
      <p:sp>
        <p:nvSpPr>
          <p:cNvPr id="25" name="Text 23"/>
          <p:cNvSpPr/>
          <p:nvPr/>
        </p:nvSpPr>
        <p:spPr>
          <a:xfrm>
            <a:off x="9921240" y="30175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D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269480" y="35204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3A4A6E"/>
          </a:solidFill>
          <a:ln/>
        </p:spPr>
      </p:sp>
      <p:sp>
        <p:nvSpPr>
          <p:cNvPr id="27" name="Text 25"/>
          <p:cNvSpPr/>
          <p:nvPr/>
        </p:nvSpPr>
        <p:spPr>
          <a:xfrm>
            <a:off x="7269480" y="35204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D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595360" y="35204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3A4A6E"/>
          </a:solidFill>
          <a:ln/>
        </p:spPr>
      </p:sp>
      <p:sp>
        <p:nvSpPr>
          <p:cNvPr id="29" name="Text 27"/>
          <p:cNvSpPr/>
          <p:nvPr/>
        </p:nvSpPr>
        <p:spPr>
          <a:xfrm>
            <a:off x="8595360" y="35204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D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921240" y="35204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3A4A6E"/>
          </a:solidFill>
          <a:ln/>
        </p:spPr>
      </p:sp>
      <p:sp>
        <p:nvSpPr>
          <p:cNvPr id="31" name="Text 29"/>
          <p:cNvSpPr/>
          <p:nvPr/>
        </p:nvSpPr>
        <p:spPr>
          <a:xfrm>
            <a:off x="9921240" y="35204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D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58000" y="5029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applyhoa.com</a:t>
            </a:r>
            <a:endParaRPr lang="en-US" sz="1100" dirty="0"/>
          </a:p>
        </p:txBody>
      </p:sp>
      <p:pic>
        <p:nvPicPr>
          <p:cNvPr id="33" name="Image 0" descr="/Users/frankhernandez/Documents/GitHub/aspmg-web/src/templates/aspmg-presentation/img/logo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" y="6382512"/>
            <a:ext cx="310896" cy="27432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616952" y="6355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applyhoa.com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3240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7724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Excellence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342900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657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numbers. Real results. See how ASPMG transforms the financial health of the associations we manage.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Money Effect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Doral Grand Condominium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ASPMG management, Doral Grand's total assets more than doubled in just two years — with properly categorized reserves and dramatically reduced receivables.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80360"/>
          <a:ext cx="5760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188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$63,128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$130,472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&amp; Savings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$55,453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$129,122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$47,010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$101,325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$7,676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949440" y="1188720"/>
            <a:ext cx="4572000" cy="2286000"/>
          </a:xfrm>
          <a:prstGeom prst="roundRect">
            <a:avLst>
              <a:gd name="adj" fmla="val 4800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6949440" y="15087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DA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+107%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6949440" y="2514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ASSET GROWTH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94944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Just 24 Months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949440" y="3840480"/>
            <a:ext cx="45720" cy="146304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14" name="Text 11"/>
          <p:cNvSpPr/>
          <p:nvPr/>
        </p:nvSpPr>
        <p:spPr>
          <a:xfrm>
            <a:off x="7178040" y="3840480"/>
            <a:ext cx="4343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Reserves properly allocated across 5 categories: Painting, Seal Coat, General Reserve, Interest, and Roof Replacement.</a:t>
            </a:r>
            <a:endParaRPr lang="en-US" sz="1300" dirty="0"/>
          </a:p>
        </p:txBody>
      </p:sp>
      <p:pic>
        <p:nvPicPr>
          <p:cNvPr id="15" name="Image 0" descr="/Users/frankhernandez/Documents/GitHub/aspmg-web/src/templates/aspmg-presentation/img/logo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" y="6382512"/>
            <a:ext cx="310896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16952" y="6355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Doral Grand Condominium Inc.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Miracle Economy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Seasons Villas &amp; Townhomes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Seasons had a $318K credit line debt. Under ASPMG, we completely paid it off while growing total assets by 73% and restructuring reserves to meet Florida's new requirements.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26080"/>
          <a:ext cx="5760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371600"/>
                <a:gridCol w="137160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$804,782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$1,392,951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&amp; Savings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$555,378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$1,198,615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Line Debt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$318,728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Reserves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$445,921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$518,077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949440" y="1097280"/>
            <a:ext cx="4572000" cy="2011680"/>
          </a:xfrm>
          <a:prstGeom prst="roundRect">
            <a:avLst>
              <a:gd name="adj" fmla="val 5455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6949440" y="13716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DA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$318,728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694944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LINE DEBT → ELIMINATED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949440" y="3383280"/>
            <a:ext cx="45720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7178040" y="3520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RESTRUCTURING (SB 4-D COMPLIANT)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178040" y="3886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Waterproofing
</a:t>
            </a:r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8D7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$348,152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326880" y="3886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
</a:t>
            </a:r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8D7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$93,181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178040" y="4389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
</a:t>
            </a:r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8D7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$28,615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326880" y="4389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Plumbing
</a:t>
            </a:r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8D7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$24,909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178040" y="4892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Protection
</a:t>
            </a:r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8D7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$14,214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326880" y="4892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
</a:t>
            </a:r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8D7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$7,048</a:t>
            </a:r>
            <a:endParaRPr lang="en-US" sz="900" dirty="0"/>
          </a:p>
        </p:txBody>
      </p:sp>
      <p:pic>
        <p:nvPicPr>
          <p:cNvPr id="20" name="Image 0" descr="/Users/frankhernandez/Documents/GitHub/aspmg-web/src/templates/aspmg-presentation/img/logo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" y="6382512"/>
            <a:ext cx="310896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616952" y="6355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Seasons Villas &amp; Townhomes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$200K Insurance Savings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Laguna Club Condominium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management was paying over </a:t>
            </a:r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$550K annually</a:t>
            </a:r>
            <a:pPr indent="0" marL="0">
              <a:buNone/>
            </a:pPr>
            <a:r>
              <a:rPr lang="en-US" sz="11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We secured the </a:t>
            </a:r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same coverage for $350K</a:t>
            </a:r>
            <a:pPr indent="0" marL="0">
              <a:buNone/>
            </a:pPr>
            <a:r>
              <a:rPr lang="en-US" sz="11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saving over $200,000 every year.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5760720" cy="777240"/>
          </a:xfrm>
          <a:prstGeom prst="roundRect">
            <a:avLst>
              <a:gd name="adj" fmla="val 7059"/>
            </a:avLst>
          </a:prstGeom>
          <a:solidFill>
            <a:srgbClr val="E8F5EE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788920"/>
            <a:ext cx="45720" cy="77724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889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$200,000 back in the association's pocket — every single year. Same coverage. Smarter management.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Did 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3232" y="4242816"/>
            <a:ext cx="91440" cy="91440"/>
          </a:xfrm>
          <a:prstGeom prst="ellipse">
            <a:avLst/>
          </a:prstGeom>
          <a:solidFill>
            <a:srgbClr val="A8906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Multi-carrier competitive bidding — not just one quote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4626864"/>
            <a:ext cx="91440" cy="91440"/>
          </a:xfrm>
          <a:prstGeom prst="ellipse">
            <a:avLst/>
          </a:prstGeom>
          <a:solidFill>
            <a:srgbClr val="A8906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5445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Leveraged portfolio relationships for better rates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" y="5010912"/>
            <a:ext cx="91440" cy="91440"/>
          </a:xfrm>
          <a:prstGeom prst="ellipse">
            <a:avLst/>
          </a:prstGeom>
          <a:solidFill>
            <a:srgbClr val="A8906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92861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coverage without reducing protection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3232" y="5394960"/>
            <a:ext cx="91440" cy="91440"/>
          </a:xfrm>
          <a:prstGeom prst="ellipse">
            <a:avLst/>
          </a:prstGeom>
          <a:solidFill>
            <a:srgbClr val="A8906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31266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unnecessary fees and redundant riders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5779008"/>
            <a:ext cx="91440" cy="91440"/>
          </a:xfrm>
          <a:prstGeom prst="ellipse">
            <a:avLst/>
          </a:prstGeom>
          <a:solidFill>
            <a:srgbClr val="A89060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6967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annual review to prevent premium creep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949440" y="1097280"/>
            <a:ext cx="4572000" cy="3017520"/>
          </a:xfrm>
          <a:prstGeom prst="roundRect">
            <a:avLst>
              <a:gd name="adj" fmla="val 4545"/>
            </a:avLst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1325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9440" y="16002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DA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$200K+</a:t>
            </a:r>
            <a:endParaRPr lang="en-US" sz="4600" dirty="0"/>
          </a:p>
        </p:txBody>
      </p:sp>
      <p:sp>
        <p:nvSpPr>
          <p:cNvPr id="25" name="Text 23"/>
          <p:cNvSpPr/>
          <p:nvPr/>
        </p:nvSpPr>
        <p:spPr>
          <a:xfrm>
            <a:off x="6949440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year — same coverage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0" y="2971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900" spc="150" kern="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ASPMG
</a:t>
            </a:r>
            <a:pPr algn="ctr" indent="0" marL="0">
              <a:lnSpc>
                <a:spcPts val="2200"/>
              </a:lnSpc>
              <a:buNone/>
            </a:pPr>
            <a:r>
              <a:rPr lang="en-US" sz="2200" strike="sngStrike" dirty="0">
                <a:solidFill>
                  <a:srgbClr val="8C97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~$550K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326880" y="2971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900" spc="150" kern="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ASPMG
</a:t>
            </a:r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BDA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$350K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49440" y="434340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/>
        </p:spPr>
      </p:sp>
      <p:sp>
        <p:nvSpPr>
          <p:cNvPr id="29" name="Text 27"/>
          <p:cNvSpPr/>
          <p:nvPr/>
        </p:nvSpPr>
        <p:spPr>
          <a:xfrm>
            <a:off x="7086600" y="4416552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spc="1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Form + Wind/Hail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326880" y="434340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/>
        </p:spPr>
      </p:sp>
      <p:sp>
        <p:nvSpPr>
          <p:cNvPr id="31" name="Text 29"/>
          <p:cNvSpPr/>
          <p:nvPr/>
        </p:nvSpPr>
        <p:spPr>
          <a:xfrm>
            <a:off x="9464040" y="4416552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spc="1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Insurance Co.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949440" y="521208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/>
        </p:spPr>
      </p:sp>
      <p:sp>
        <p:nvSpPr>
          <p:cNvPr id="33" name="Text 31"/>
          <p:cNvSpPr/>
          <p:nvPr/>
        </p:nvSpPr>
        <p:spPr>
          <a:xfrm>
            <a:off x="7086600" y="5285232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spc="1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ORD/LAW LIMIT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$1,000,000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326880" y="521208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/>
        </p:spPr>
      </p:sp>
      <p:sp>
        <p:nvSpPr>
          <p:cNvPr id="35" name="Text 33"/>
          <p:cNvSpPr/>
          <p:nvPr/>
        </p:nvSpPr>
        <p:spPr>
          <a:xfrm>
            <a:off x="9464040" y="5285232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spc="1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8D7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Breakdown</a:t>
            </a:r>
            <a:endParaRPr lang="en-US" sz="800" dirty="0"/>
          </a:p>
        </p:txBody>
      </p:sp>
      <p:pic>
        <p:nvPicPr>
          <p:cNvPr id="36" name="Image 0" descr="/Users/frankhernandez/Documents/GitHub/aspmg-web/src/templates/aspmg-presentation/img/logo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" y="6382512"/>
            <a:ext cx="310896" cy="27432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616952" y="6355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Laguna Club Condominium Assoc.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3240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7724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Management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342900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657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oversight of capital improvement projects with full photo documentation and board transparency.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E6E9F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PROJECTS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Roof Replacement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pic>
        <p:nvPicPr>
          <p:cNvPr id="6" name="Image 0" descr="/Users/frankhernandez/Documents/GitHub/aspmg-web/src/templates/aspmg-presentation/img/roof-befo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91640"/>
            <a:ext cx="5440680" cy="3063240"/>
          </a:xfrm>
          <a:prstGeom prst="rect">
            <a:avLst/>
          </a:prstGeom>
        </p:spPr>
      </p:pic>
      <p:pic>
        <p:nvPicPr>
          <p:cNvPr id="7" name="Image 1" descr="/Users/frankhernandez/Documents/GitHub/aspmg-web/src/templates/aspmg-presentation/img/roof-afte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1691640"/>
            <a:ext cx="5440680" cy="3063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68680" y="19202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9" name="Text 5"/>
          <p:cNvSpPr/>
          <p:nvPr/>
        </p:nvSpPr>
        <p:spPr>
          <a:xfrm>
            <a:off x="868680" y="19202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583680" y="19202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A89060"/>
          </a:solidFill>
          <a:ln/>
        </p:spPr>
      </p:sp>
      <p:sp>
        <p:nvSpPr>
          <p:cNvPr id="11" name="Text 7"/>
          <p:cNvSpPr/>
          <p:nvPr/>
        </p:nvSpPr>
        <p:spPr>
          <a:xfrm>
            <a:off x="6583680" y="19202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40080" y="5029200"/>
            <a:ext cx="45720" cy="105156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13" name="Text 9"/>
          <p:cNvSpPr/>
          <p:nvPr/>
        </p:nvSpPr>
        <p:spPr>
          <a:xfrm>
            <a:off x="868680" y="502920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roof replacement managed from bid solicitation through final inspection — on time and within budget. Modern standing-seam metal roofing for long-term durability.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4983480"/>
            <a:ext cx="1737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046720" y="5120640"/>
            <a:ext cx="17373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8138160" y="5646420"/>
            <a:ext cx="155448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9966960" y="4983480"/>
            <a:ext cx="1737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9966960" y="5120640"/>
            <a:ext cx="17373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Drone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10058400" y="5646420"/>
            <a:ext cx="155448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</a:t>
            </a:r>
            <a:endParaRPr lang="en-US" sz="800" dirty="0"/>
          </a:p>
        </p:txBody>
      </p:sp>
      <p:pic>
        <p:nvPicPr>
          <p:cNvPr id="20" name="Image 2" descr="/Users/frankhernandez/Documents/GitHub/aspmg-web/src/templates/aspmg-presentation/img/logo.png">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502920" y="6382512"/>
            <a:ext cx="310896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616952" y="6355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C-West Building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E6E9F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PROJECTS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Paint — Before &amp; After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Ibiza Village Condominium Association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pic>
        <p:nvPicPr>
          <p:cNvPr id="7" name="Image 0" descr="/Users/frankhernandez/Documents/GitHub/aspmg-web/src/templates/aspmg-presentation/img/ibiza-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011680"/>
            <a:ext cx="3566160" cy="2743200"/>
          </a:xfrm>
          <a:prstGeom prst="rect">
            <a:avLst/>
          </a:prstGeom>
        </p:spPr>
      </p:pic>
      <p:pic>
        <p:nvPicPr>
          <p:cNvPr id="8" name="Image 1" descr="/Users/frankhernandez/Documents/GitHub/aspmg-web/src/templates/aspmg-presentation/img/ibiza-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0" y="2011680"/>
            <a:ext cx="3566160" cy="2743200"/>
          </a:xfrm>
          <a:prstGeom prst="rect">
            <a:avLst/>
          </a:prstGeom>
        </p:spPr>
      </p:pic>
      <p:pic>
        <p:nvPicPr>
          <p:cNvPr id="9" name="Image 2" descr="/Users/frankhernandez/Documents/GitHub/aspmg-web/src/templates/aspmg-presentation/img/ibiza-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38160" y="2011680"/>
            <a:ext cx="3566160" cy="27432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40080" y="5074920"/>
            <a:ext cx="45720" cy="100584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11" name="Text 6"/>
          <p:cNvSpPr/>
          <p:nvPr/>
        </p:nvSpPr>
        <p:spPr>
          <a:xfrm>
            <a:off x="868680" y="507492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exterior paint project transforming faded, weathered buildings into a vibrant, modern community aesthetic — managed from color selection through final walkthrough.</a:t>
            </a:r>
            <a:endParaRPr lang="en-US" sz="1250" dirty="0"/>
          </a:p>
        </p:txBody>
      </p:sp>
      <p:pic>
        <p:nvPicPr>
          <p:cNvPr id="12" name="Image 3" descr="/Users/frankhernandez/Documents/GitHub/aspmg-web/src/templates/aspmg-presentation/img/logo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502920" y="6382512"/>
            <a:ext cx="310896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16952" y="6355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Ibiza Village Condominium Assoc.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E6E9F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PROJECTS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Floor Replacement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Bleau Fontaine Condominium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 terracotta tile transformed into modern gray porcelain throughout lobbies, hallways, and stairwells.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2880360"/>
            <a:ext cx="22860" cy="301752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880360"/>
            <a:ext cx="155448" cy="155448"/>
          </a:xfrm>
          <a:prstGeom prst="ellipse">
            <a:avLst/>
          </a:prstGeom>
          <a:solidFill>
            <a:srgbClr val="A8906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Solicitation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30815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bids obtained and presented to the board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" y="3721608"/>
            <a:ext cx="155448" cy="155448"/>
          </a:xfrm>
          <a:prstGeom prst="ellipse">
            <a:avLst/>
          </a:prstGeom>
          <a:solidFill>
            <a:srgbClr val="A8906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6301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Selection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39227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Board-approved porcelain with slip-resistant finish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4672" y="4562856"/>
            <a:ext cx="155448" cy="155448"/>
          </a:xfrm>
          <a:prstGeom prst="ellipse">
            <a:avLst/>
          </a:prstGeom>
          <a:solidFill>
            <a:srgbClr val="A8906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44714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Oversight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47640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monitoring with minimal disruption to residents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" y="5404104"/>
            <a:ext cx="155448" cy="155448"/>
          </a:xfrm>
          <a:prstGeom prst="ellipse">
            <a:avLst/>
          </a:prstGeom>
          <a:solidFill>
            <a:srgbClr val="A8906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3126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Inspection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56052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walkthrough and before/after documentation</a:t>
            </a:r>
            <a:endParaRPr lang="en-US" sz="1000" dirty="0"/>
          </a:p>
        </p:txBody>
      </p:sp>
      <p:pic>
        <p:nvPicPr>
          <p:cNvPr id="21" name="Image 0" descr="/Users/frankhernandez/Documents/GitHub/aspmg-web/src/templates/aspmg-presentation/img/bf2-floor-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914400"/>
            <a:ext cx="5120640" cy="5212080"/>
          </a:xfrm>
          <a:prstGeom prst="rect">
            <a:avLst/>
          </a:prstGeom>
        </p:spPr>
      </p:pic>
      <p:pic>
        <p:nvPicPr>
          <p:cNvPr id="22" name="Image 1" descr="/Users/frankhernandez/Documents/GitHub/aspmg-web/src/templates/aspmg-presentation/img/logo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502920" y="6382512"/>
            <a:ext cx="310896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616952" y="6355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Bleau Fontaine Condo No. 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6E9F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AMENITY MANAGEMENT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Pool Resurfacing &amp; Maintenance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draining to resurfacing to final fill — every step documented with photos and reported to the board. Our hands-on approach ensures quality control at every stage.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697480"/>
            <a:ext cx="41148" cy="141732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Emptied &amp; Inspected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3081528"/>
            <a:ext cx="292608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drain, structural inspection, and surface assessment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0" y="269748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23360" y="2697480"/>
            <a:ext cx="41148" cy="141732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13" name="Text 11"/>
          <p:cNvSpPr/>
          <p:nvPr/>
        </p:nvSpPr>
        <p:spPr>
          <a:xfrm>
            <a:off x="4187952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Resurfaced &amp; Filled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87952" y="3081528"/>
            <a:ext cx="292608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plaster application, chemical balance, and reopening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297680"/>
            <a:ext cx="41148" cy="141732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389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Documented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" y="4681728"/>
            <a:ext cx="292608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captured and shared with the board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0" y="429768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023360" y="4297680"/>
            <a:ext cx="41148" cy="141732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21" name="Text 19"/>
          <p:cNvSpPr/>
          <p:nvPr/>
        </p:nvSpPr>
        <p:spPr>
          <a:xfrm>
            <a:off x="4187952" y="4389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87952" y="4681728"/>
            <a:ext cx="292608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contractors vetted, insured, and supervised on-site</a:t>
            </a:r>
            <a:endParaRPr lang="en-US" sz="1000" dirty="0"/>
          </a:p>
        </p:txBody>
      </p:sp>
      <p:pic>
        <p:nvPicPr>
          <p:cNvPr id="23" name="Image 0" descr="/Users/frankhernandez/Documents/GitHub/aspmg-web/src/templates/aspmg-presentation/img/pool-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777240"/>
            <a:ext cx="3931920" cy="5212080"/>
          </a:xfrm>
          <a:prstGeom prst="rect">
            <a:avLst/>
          </a:prstGeom>
        </p:spPr>
      </p:pic>
      <p:pic>
        <p:nvPicPr>
          <p:cNvPr id="24" name="Image 1" descr="/Users/frankhernandez/Documents/GitHub/aspmg-web/src/templates/aspmg-presentation/img/logo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502920" y="6382512"/>
            <a:ext cx="310896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616952" y="6355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3240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7724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 Inspections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342900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657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Detailed, photo-documented inspection reports that catch issues early and track resolution over time.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FE9D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D7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Detailed Inspection Reports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Shamrock Condominium — Feb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69164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on-site inspections with numbered photos, detailed descriptions, and follow-up tracking on every issue.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74320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Document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0906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Storage compliance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30906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A/C filter tracking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339242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Fire alarm permits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339242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Lighting &amp; electrical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369417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Common area violations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369417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Pool condition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9959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Landscaping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39959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Plumbing &amp; structural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61772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4771339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1520" y="5360213"/>
            <a:ext cx="1600200" cy="486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06040" y="461772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606040" y="4771339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697480" y="5360213"/>
            <a:ext cx="1600200" cy="486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4617720"/>
            <a:ext cx="1737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0" y="4771339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663440" y="5360213"/>
            <a:ext cx="1554480" cy="486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TRACKED</a:t>
            </a:r>
            <a:endParaRPr lang="en-US" sz="900" dirty="0"/>
          </a:p>
        </p:txBody>
      </p:sp>
      <p:pic>
        <p:nvPicPr>
          <p:cNvPr id="27" name="Image 0" descr="/Users/frankhernandez/Documents/GitHub/aspmg-web/src/templates/aspmg-presentation/img/inspection-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1463040"/>
            <a:ext cx="1554480" cy="2011680"/>
          </a:xfrm>
          <a:prstGeom prst="rect">
            <a:avLst/>
          </a:prstGeom>
        </p:spPr>
      </p:pic>
      <p:pic>
        <p:nvPicPr>
          <p:cNvPr id="28" name="Image 1" descr="/Users/frankhernandez/Documents/GitHub/aspmg-web/src/templates/aspmg-presentation/img/inspection-0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458200" y="1463040"/>
            <a:ext cx="1554480" cy="2011680"/>
          </a:xfrm>
          <a:prstGeom prst="rect">
            <a:avLst/>
          </a:prstGeom>
        </p:spPr>
      </p:pic>
      <p:pic>
        <p:nvPicPr>
          <p:cNvPr id="29" name="Image 2" descr="/Users/frankhernandez/Documents/GitHub/aspmg-web/src/templates/aspmg-presentation/img/inspection-0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149840" y="1463040"/>
            <a:ext cx="1554480" cy="201168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6766560" y="3703320"/>
            <a:ext cx="4937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31" name="Text 26"/>
          <p:cNvSpPr/>
          <p:nvPr/>
        </p:nvSpPr>
        <p:spPr>
          <a:xfrm>
            <a:off x="6995160" y="38862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observation numbered, photographed, and tracked with follow-up notes — issues identified, A/C filters logged with change dates, and resolutions confirmed on the next visit.</a:t>
            </a:r>
            <a:endParaRPr lang="en-US" sz="1200" dirty="0"/>
          </a:p>
        </p:txBody>
      </p:sp>
      <p:pic>
        <p:nvPicPr>
          <p:cNvPr id="32" name="Image 3" descr="/Users/frankhernandez/Documents/GitHub/aspmg-web/src/templates/aspmg-presentation/img/logo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502920" y="6382512"/>
            <a:ext cx="310896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616952" y="6355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Shamrock Condominium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0076" y="5029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3A4A6E"/>
          </a:solidFill>
          <a:ln/>
        </p:spPr>
      </p:sp>
      <p:sp>
        <p:nvSpPr>
          <p:cNvPr id="3" name="Text 1"/>
          <p:cNvSpPr/>
          <p:nvPr/>
        </p:nvSpPr>
        <p:spPr>
          <a:xfrm>
            <a:off x="5180076" y="502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BD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PROMISE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91440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Transparency with Your Board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728716" y="164592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18288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dollar accounted for. Every project documented. Every decision informed by data.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3796" y="25146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263656"/>
          </a:solidFill>
          <a:ln w="9525">
            <a:solidFill>
              <a:srgbClr val="3647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0956" y="26974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Financials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0956" y="32004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P&amp;L, balance sheets, and bank reconciliations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42716" y="25146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263656"/>
          </a:solidFill>
          <a:ln w="9525">
            <a:solidFill>
              <a:srgbClr val="3647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9876" y="26974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Reports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79876" y="32004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Inspections and project updates with full imagery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1636" y="25146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263656"/>
          </a:solidFill>
          <a:ln w="9525">
            <a:solidFill>
              <a:srgbClr val="3647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8796" y="26974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Tracking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68796" y="32004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funding status and projections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20556" y="25146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263656"/>
          </a:solidFill>
          <a:ln w="9525">
            <a:solidFill>
              <a:srgbClr val="3647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57716" y="26974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Communication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57716" y="32004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line to your manager — always responsive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834640" y="4709160"/>
            <a:ext cx="45720" cy="1097280"/>
          </a:xfrm>
          <a:prstGeom prst="rect">
            <a:avLst/>
          </a:prstGeom>
          <a:solidFill>
            <a:srgbClr val="BDA87A"/>
          </a:solidFill>
          <a:ln/>
        </p:spPr>
      </p:sp>
      <p:sp>
        <p:nvSpPr>
          <p:cNvPr id="20" name="Text 18"/>
          <p:cNvSpPr/>
          <p:nvPr/>
        </p:nvSpPr>
        <p:spPr>
          <a:xfrm>
            <a:off x="3063240" y="47091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DE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"An informed board makes better decisions. We provide more data, more often, and with more context than any other management company."</a:t>
            </a:r>
            <a:endParaRPr lang="en-US" sz="1300" dirty="0"/>
          </a:p>
        </p:txBody>
      </p:sp>
      <p:pic>
        <p:nvPicPr>
          <p:cNvPr id="21" name="Image 0" descr="/Users/frankhernandez/Documents/GitHub/aspmg-web/src/templates/aspmg-presentation/img/logo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502920" y="6382512"/>
            <a:ext cx="310896" cy="2743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616952" y="6355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Transparency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7196" y="41148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EFE9DC"/>
          </a:solidFill>
          <a:ln/>
        </p:spPr>
      </p:sp>
      <p:sp>
        <p:nvSpPr>
          <p:cNvPr id="3" name="Text 1"/>
          <p:cNvSpPr/>
          <p:nvPr/>
        </p:nvSpPr>
        <p:spPr>
          <a:xfrm>
            <a:off x="4997196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D7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PARTNER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77724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ASPMG for Your Community?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728716" y="1463040"/>
            <a:ext cx="73152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6" name="Shape 4"/>
          <p:cNvSpPr/>
          <p:nvPr/>
        </p:nvSpPr>
        <p:spPr>
          <a:xfrm>
            <a:off x="562356" y="182880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2356" y="1828800"/>
            <a:ext cx="41148" cy="128016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8" name="Text 6"/>
          <p:cNvSpPr/>
          <p:nvPr/>
        </p:nvSpPr>
        <p:spPr>
          <a:xfrm>
            <a:off x="726948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48156" y="193852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Financial Results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48156" y="2258568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grow reserves and eliminate debt. Our track record speaks through balance sheets, not promises.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77356" y="182880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77356" y="1828800"/>
            <a:ext cx="41148" cy="128016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13" name="Text 11"/>
          <p:cNvSpPr/>
          <p:nvPr/>
        </p:nvSpPr>
        <p:spPr>
          <a:xfrm>
            <a:off x="6441948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63156" y="193852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That Empowers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63156" y="2258568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ApplyHOA gives your board and residents 24/7 access to payments, documents, and real-time data.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2356" y="333756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2356" y="3337560"/>
            <a:ext cx="41148" cy="128016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48156" y="344728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Project Management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48156" y="3767328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Roofs, pools, paint — every detail overseen, every phase documented, delivered on time.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77356" y="333756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77356" y="3337560"/>
            <a:ext cx="41148" cy="128016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23" name="Text 21"/>
          <p:cNvSpPr/>
          <p:nvPr/>
        </p:nvSpPr>
        <p:spPr>
          <a:xfrm>
            <a:off x="6441948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63156" y="344728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Proactive, Not Reactive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63156" y="3767328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inspections catch problems before emergencies. We identify, document, and resolve.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2356" y="484632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2356" y="4846320"/>
            <a:ext cx="41148" cy="128016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28" name="Text 26"/>
          <p:cNvSpPr/>
          <p:nvPr/>
        </p:nvSpPr>
        <p:spPr>
          <a:xfrm>
            <a:off x="726948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248156" y="495604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Expertise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48156" y="5276088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Laguna Club $200K/year — same coverage. Portfolio leverage for rates no single association gets.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77356" y="484632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77356" y="4846320"/>
            <a:ext cx="41148" cy="1280160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33" name="Text 31"/>
          <p:cNvSpPr/>
          <p:nvPr/>
        </p:nvSpPr>
        <p:spPr>
          <a:xfrm>
            <a:off x="6441948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963156" y="495604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 4-D Compliance Ready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63156" y="5276088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 already restructured across our portfolio for Florida's structural integrity requirements.</a:t>
            </a:r>
            <a:endParaRPr lang="en-US" sz="1000" dirty="0"/>
          </a:p>
        </p:txBody>
      </p:sp>
      <p:pic>
        <p:nvPicPr>
          <p:cNvPr id="36" name="Image 0" descr="/Users/frankhernandez/Documents/GitHub/aspmg-web/src/templates/aspmg-presentation/img/logo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" y="6382512"/>
            <a:ext cx="310896" cy="27432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616952" y="6355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ASPMG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rankhernandez/Documents/GitHub/aspmg-web/src/templates/aspmg-presentation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8676" y="594360"/>
            <a:ext cx="1371600" cy="12252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96596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Something
</a:t>
            </a:r>
            <a:pPr algn="ctr"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BDA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Great Together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637276" y="3520440"/>
            <a:ext cx="914400" cy="41148"/>
          </a:xfrm>
          <a:prstGeom prst="rect">
            <a:avLst/>
          </a:prstGeom>
          <a:solidFill>
            <a:srgbClr val="A89060"/>
          </a:solidFill>
          <a:ln/>
        </p:spPr>
      </p:sp>
      <p:sp>
        <p:nvSpPr>
          <p:cNvPr id="5" name="Text 2"/>
          <p:cNvSpPr/>
          <p:nvPr/>
        </p:nvSpPr>
        <p:spPr>
          <a:xfrm>
            <a:off x="3168396" y="370332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ready to bring the same level of excellence, transparency, and innovation to your community.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110996" y="457200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263656"/>
          </a:solidFill>
          <a:ln w="9525">
            <a:solidFill>
              <a:srgbClr val="3647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93876" y="4572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50" b="1" spc="200" kern="0" dirty="0">
                <a:solidFill>
                  <a:srgbClr val="BD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
</a:t>
            </a:r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2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(305) 661-8400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539996" y="457200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263656"/>
          </a:solidFill>
          <a:ln w="9525">
            <a:solidFill>
              <a:srgbClr val="3647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22876" y="4572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50" b="1" spc="200" kern="0" dirty="0">
                <a:solidFill>
                  <a:srgbClr val="BD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
</a:t>
            </a:r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2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www.aspmg.com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968996" y="457200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263656"/>
          </a:solidFill>
          <a:ln w="9525">
            <a:solidFill>
              <a:srgbClr val="3647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51876" y="4572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50" b="1" spc="200" kern="0" dirty="0">
                <a:solidFill>
                  <a:srgbClr val="BD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
</a:t>
            </a:r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2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Grand Canal Dr, Suite 201</a:t>
            </a:r>
            <a:endParaRPr lang="en-US" sz="8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2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Miami, FL 33144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0" y="612648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66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PROPERTY MANAGEMENT GROUP INC.  •  CONFIDENTIAL  •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ASPMG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ASPMG — Management Proposal</dc:title>
  <dc:subject>PptxGenJS Presentation</dc:subject>
  <dc:creator>A Solid Property Management Group</dc:creator>
  <cp:lastModifiedBy>A Solid Property Management Group</cp:lastModifiedBy>
  <cp:revision>1</cp:revision>
  <dcterms:created xsi:type="dcterms:W3CDTF">2026-06-11T11:42:08Z</dcterms:created>
  <dcterms:modified xsi:type="dcterms:W3CDTF">2026-06-11T11:42:08Z</dcterms:modified>
</cp:coreProperties>
</file>